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這是誰的多元文化節慶？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｜課例研究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1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六年級社會領域公開課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學習共同體課例研究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授課教師：陳香吟老師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六一七班｜2026.10.21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小組拿著學習單與課本，三位贊成者與一位質疑者開始對話。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課例背景與學習目標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｜課例背景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單元：康軒六上第二單元「族群交流如何影響臺灣社會」探究活動。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目標一：理解臺灣是多元文化的地方，欣賞並尊重文化的多樣性。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目標二：從開齋節等文化活動選定議題，進行探究與實作。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01:29　老師：「你們很熟悉的是跟平板做朋友……所以我們就把平板收起來。」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教學設計：讀、說、做、想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｜課例背景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讀一讀：用開齋節市集與越南麵包圖片破題。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說一說：把學習單重點對應到課本觀點。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做一做：三人贊成、一人質疑，建構立場。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想一想：建議開齋節增加或減少什麼活動。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板書把每一段活動的重點留在黑板上，形成學生可回看的「視覺暫留」。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說課：備課的三個關鍵思考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｜說課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低門檻啟動：用「對比兩張照片」讓每個人都能開口。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概念邊界：釐清新住民與移工，並區分族群、宗教與地區。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首次嘗試質疑者：讓習慣服從權威的高年級學生練習提出不同看法。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板書：族群、商店、移工、香菜——從生活線索走向課本概念。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觀課焦點：看見學生的學習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｜觀課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全班氛圍：是否有安心學習、支持社會情緒互動的環境？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學習歷程：學生是否互相協助與討論？誰停滯、誰超前？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學習結果：學習是否成立？困難在哪裡？思考是否深化？</a:t>
            </a:r>
          </a:p>
        </p:txBody>
      </p:sp>
      <p:pic>
        <p:nvPicPr>
          <p:cNvPr id="4" name="Picture 3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觀課者依座位表分組守望，特別留意三位需要支持的學生。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事實一：從家門口的商店開始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｜學習事實｜描述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老師展示學校附近的越南小吃、奶茶店與火鍋店照片，學生立刻認出地點。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學生紛紛指認：龍安路、四維路市場的小巷子、光華國小附近。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老師歸納：有這些商店，代表附近有吃、用這些東西的人。</a:t>
            </a:r>
          </a:p>
        </p:txBody>
      </p:sp>
      <p:pic>
        <p:nvPicPr>
          <p:cNvPr id="4" name="Picture 3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04:19　老師：「能夠有這麼多不一樣的店，代表有吃這些、用這些的人口在這附近。」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事實二：看見人、物與細節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｜學習事實｜描述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兩人一組先說出圖片裡看到的兩樣東西，再請每組一號發表。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學生說出「東南亞族群」「東南亞商店」，也有人注意到香菜。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老師整理出三種觀察方向：人、物，以及組成細節的元素。</a:t>
            </a:r>
          </a:p>
        </p:txBody>
      </p:sp>
      <p:pic>
        <p:nvPicPr>
          <p:cNvPr id="4" name="Picture 3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12:09　老師：「我們回答的可能是人，可能是物，甚至會看到細節裡面組成的元素。」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事實三：「我不知道要看哪一句」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｜學習事實｜描述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學生要在課本 52–59 頁找到與學習單相同的觀點，有人卡住了。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老師給兩個方法：先看標題，再從段落中找一個專有名詞。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老師也請已找到的同學：「你教他。」讓同伴成為支持者。</a:t>
            </a:r>
          </a:p>
        </p:txBody>
      </p:sp>
      <p:pic>
        <p:nvPicPr>
          <p:cNvPr id="4" name="Picture 3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15:13　老師轉述：「第一個學習單我不知道要看哪一句，那麼多要看哪一句？」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事實四：三人結盟與一位質疑者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｜學習事實｜描述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一到三號握手「結盟」，依新聞標題加一句結論形成贊成立場。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四號成為唯一的反對者，要聽完結論後提出不同看法。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有學生困惑：「為什麼我要質疑你們？」質疑的意義需要被建立。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16:24　老師：「恭喜你們，你們結盟了。四號你變成是唯一的反對者。」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事實五：小組裡的卡關與互助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｜學習事實｜描述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學生回到課文找句子，一邊讀一邊卡在不會寫、不會唸的字。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「這個字不會寫」之後，同組同學一起回到課本找字、確認讀音。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有組員能讀出結論，但要歸納成自己的理由仍有困難。</a:t>
            </a:r>
          </a:p>
        </p:txBody>
      </p:sp>
      <p:pic>
        <p:nvPicPr>
          <p:cNvPr id="4" name="Picture 3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20:41　學生：「這個字不會寫……」小組在文本前停下來，一起想辦法。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2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事實六：「我放棄了，可以換一個嗎？」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｜學習事實｜描述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錄音時，學生一次次重唸「臺灣的族群交流將不再是衝突的來源」。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有人唸得斷斷續續、重來好幾次，最後說出「我放棄了」。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同伴接手示範，平板操作與收音問題也占去不少時間。</a:t>
            </a:r>
          </a:p>
        </p:txBody>
      </p:sp>
      <p:pic>
        <p:nvPicPr>
          <p:cNvPr id="4" name="Picture 3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27:39　學生朗讀：「臺灣的族群交流將不再是衝突的來源，而是孕育出更璀璨多元的文化景觀。」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事實七：老師蹲下來的支持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｜學習事實｜描述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老師巡視時在學生身旁耳語提問，提供二選一與可能的反對方向。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對因鏡頭緊張的學生，老師說：「用寫的好不好？」保留他的角色。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老師沒有跳過學生原本的任務，而是換一種方式讓他完成。</a:t>
            </a:r>
          </a:p>
        </p:txBody>
      </p:sp>
      <p:pic>
        <p:nvPicPr>
          <p:cNvPr id="4" name="Picture 3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36:31　老師：「那等一下你可以用寫的嗎？好，用寫的好不好。」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事實八：「不一定質疑就是反對」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｜學習事實｜描述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第六組最快完成，質疑者說：尊重不同的信仰，就可以避免產生誤解。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老師回應：他的理由真的針對贊成者說明，質疑不一定是反對。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老師再連到課本 60 頁：居民、參加者、主辦者與關心團體的立場。</a:t>
            </a:r>
          </a:p>
        </p:txBody>
      </p:sp>
      <p:pic>
        <p:nvPicPr>
          <p:cNvPr id="4" name="Picture 3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38:28　老師：「所以他的反對理由，真的有針對贊成者的理由下去說明……所以不一定質疑就是反對。」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詮釋一：傾聽關係讓質疑變安全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｜詮釋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質疑者單獨面對三人，起初顯得孤立；當雙方都回到文本，對話才開始。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「你教他」「用寫的」讓卡住的學生仍留在學習中，而非被跳過。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安全感來自被傾聽，而不是被要求立刻說出正確答案。</a:t>
            </a:r>
          </a:p>
        </p:txBody>
      </p:sp>
      <p:pic>
        <p:nvPicPr>
          <p:cNvPr id="4" name="Picture 3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小組成員把頭靠向同一份文本，是傾聽關係最直接的身體語言。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詮釋二：伸展跳躍的多立場思辨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｜詮釋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從「看到什麼」到「誰的權益被影響」，任務難度逐步提升。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第六組的質疑把「尊重信仰」與「減少誤解」連起來，跳躍出現了。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多數學生仍停在找句子、唸句子，歸納成自己的論點還需要鷹架。</a:t>
            </a:r>
          </a:p>
        </p:txBody>
      </p:sp>
      <p:pic>
        <p:nvPicPr>
          <p:cNvPr id="4" name="Picture 3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39:09　老師：「民眾有可能住在不同的地區……還有很多人是關心這個議題的人。」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詮釋三：主學習與附學習的平衡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｜詮釋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本課主學習是理解開齋節與多元文化的尊重、包容和差異。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平板錄音、上傳與語音輸入是附學習，這次占去相當多時間。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當工具操作擠壓討論，最需要深化的文化理解反而被壓縮。</a:t>
            </a:r>
          </a:p>
        </p:txBody>
      </p:sp>
      <p:pic>
        <p:nvPicPr>
          <p:cNvPr id="4" name="Picture 3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學生把平板靠近嘴邊重錄，注意力從「說什麼」移到「怎麼錄」。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反思一：讓質疑者不再孤單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｜反思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由「3 贊成＋1 質疑」調整為「2＋2」，讓不同立場都有夥伴。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立場分歧時重組專家小組，先整理理由，再回原組交流。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提供句型：「我同意……，但我認為還有……沒有被考慮。」</a:t>
            </a:r>
          </a:p>
        </p:txBody>
      </p:sp>
      <p:pic>
        <p:nvPicPr>
          <p:cNvPr id="4" name="Picture 3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校長觀課紀錄：三人同意、一人反對，可改為兩人同意、兩人反對，避免孤軍。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反思二：給下一次課堂的設計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｜反思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座位改為四人面對面，並給小組一個共同話題，學習才能聚焦。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錄音等工具先在課前練習，課堂只保留與主題直接相關的操作。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課末留給學生自己整理：今天最重要的概念是什麼？</a:t>
            </a:r>
          </a:p>
        </p:txBody>
      </p:sp>
      <p:pic>
        <p:nvPicPr>
          <p:cNvPr id="4" name="Picture 3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校長觀課紀錄：錄音需要訓練，今天第一次就做到，已經非常棒了。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11368735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wrap="square"/>
          <a:lstStyle/>
          <a:p>
            <a:pPr algn="l" eaLnBrk="1" hangingPunct="1" latinLnBrk="0"/>
            <a:r>
              <a:rPr sz="3600" b="1" lang="zh-TW" altLang="en-US">
                <a:solidFill>
                  <a:srgbClr val="23412D"/>
                </a:solidFill>
                <a:latin typeface="Microsoft JhengHei"/>
                <a:ea typeface="Microsoft JhengHei"/>
                <a:cs typeface="Microsoft JhengHei"/>
              </a:rPr>
              <a:t>結語：從誰的節慶到我們的社會</a:t>
            </a:r>
            <a:r>
              <a:rPr sz="18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　｜結語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81328"/>
            <a:ext cx="5212080" cy="5056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學生從家門口的商店出發，開始看見身邊不同的生活方式。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質疑不是對立，而是讓理由更清楚、讓更多人的聲音被聽見。</a:t>
            </a:r>
          </a:p>
          <a:p>
            <a:pPr algn="l" eaLnBrk="1" hangingPunct="1" latinLnBrk="0">
              <a:lnSpc>
                <a:spcPct val="112000"/>
              </a:lnSpc>
              <a:spcAft>
                <a:spcPts val="1200"/>
              </a:spcAft>
            </a:pPr>
            <a:r>
              <a:rPr sz="2000" b="0" lang="zh-TW" altLang="en-US">
                <a:solidFill>
                  <a:srgbClr val="6E8F5E"/>
                </a:solidFill>
                <a:latin typeface="Microsoft JhengHei"/>
                <a:ea typeface="Microsoft JhengHei"/>
                <a:cs typeface="Microsoft JhengHei"/>
              </a:rPr>
              <a:t>● </a:t>
            </a:r>
            <a:r>
              <a:rPr sz="28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教師的設計、協調與反思，正是課堂持續長出來的力量。</a:t>
            </a:r>
          </a:p>
        </p:txBody>
      </p:sp>
      <p:pic>
        <p:nvPicPr>
          <p:cNvPr id="4" name="Picture 3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81328"/>
            <a:ext cx="5928055" cy="3334531"/>
          </a:xfrm>
          <a:prstGeom prst="rect">
            <a:avLst/>
          </a:prstGeom>
          <a:ln w="50800">
            <a:solidFill>
              <a:srgbClr val="FFFFFF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5852160" y="4998739"/>
            <a:ext cx="5928055" cy="15392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8C4"/>
            </a:solidFill>
          </a:ln>
          <a:effectLst>
            <a:outerShdw blurRad="76200" dist="25400" dir="5400000" algn="t" rotWithShape="0">
              <a:srgbClr val="23412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 eaLnBrk="1" hangingPunct="1" latinLnBrk="0"/>
            <a:r>
              <a:rPr sz="1700" b="0" lang="zh-TW" altLang="en-US">
                <a:solidFill>
                  <a:srgbClr val="4B504B"/>
                </a:solidFill>
                <a:latin typeface="Microsoft JhengHei"/>
                <a:ea typeface="Microsoft JhengHei"/>
                <a:cs typeface="Microsoft JhengHei"/>
              </a:rPr>
              <a:t>40:20　老師：「你認為可以增加一個什麼活動，或減少一個什麼活動？」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